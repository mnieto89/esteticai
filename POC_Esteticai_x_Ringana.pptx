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" y="0"/>
            <a:ext cx="109728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2926080"/>
            <a:ext cx="3657600" cy="36576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91440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400" b="1" i="0">
                <a:solidFill>
                  <a:srgbClr val="FFFFFF"/>
                </a:solidFill>
                <a:latin typeface="Georgia"/>
              </a:defRPr>
            </a:pPr>
            <a:r>
              <a:t>ESTETICAI × RINGANA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91840"/>
            <a:ext cx="73152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3800"/>
              </a:lnSpc>
              <a:defRPr sz="2600" b="0" i="0">
                <a:solidFill>
                  <a:srgbClr val="CADCFC"/>
                </a:solidFill>
                <a:latin typeface="Calibri"/>
              </a:defRPr>
            </a:pPr>
            <a:r>
              <a:t>Inteligencia Artificial para potenciar</a:t>
            </a:r>
            <a:br/>
            <a:r>
              <a:t>el contenido de tus Partners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30352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 i="1">
                <a:solidFill>
                  <a:srgbClr val="99AABB"/>
                </a:solidFill>
                <a:latin typeface="Calibri"/>
              </a:defRPr>
            </a:pPr>
            <a:r>
              <a:t>Propuesta de Valor  •  Proof of Concept  •  Junio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5943600"/>
            <a:ext cx="2011680" cy="45720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0" y="594360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CONFIDENCIAL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2C5F2D"/>
                </a:solidFill>
                <a:latin typeface="Calibri"/>
              </a:defRPr>
            </a:pPr>
            <a:r>
              <a:t>EL RETO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800"/>
              </a:lnSpc>
              <a:defRPr sz="3600" b="1" i="0">
                <a:solidFill>
                  <a:srgbClr val="1A1A1A"/>
                </a:solidFill>
                <a:latin typeface="Georgia"/>
              </a:defRPr>
            </a:pPr>
            <a:r>
              <a:t>100.000 Partners.</a:t>
            </a:r>
            <a:br/>
            <a:r>
              <a:t>Una marca. Cero community managers.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3200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 i="0">
                <a:solidFill>
                  <a:srgbClr val="2C5F2D"/>
                </a:solidFill>
                <a:latin typeface="Georgia"/>
              </a:defRPr>
            </a:pPr>
            <a:r>
              <a:t>100K+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840480"/>
            <a:ext cx="3200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200"/>
              </a:lnSpc>
              <a:defRPr sz="1500" b="0" i="0">
                <a:solidFill>
                  <a:srgbClr val="666666"/>
                </a:solidFill>
                <a:latin typeface="Calibri"/>
              </a:defRPr>
            </a:pPr>
            <a:r>
              <a:t>Partners independientes</a:t>
            </a:r>
            <a:br/>
            <a:r>
              <a:t>necesitan contenido diario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59" y="2743200"/>
            <a:ext cx="3200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 i="0">
                <a:solidFill>
                  <a:srgbClr val="C4748E"/>
                </a:solidFill>
                <a:latin typeface="Georgia"/>
              </a:defRPr>
            </a:pPr>
            <a:r>
              <a:t>38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59" y="3840480"/>
            <a:ext cx="3200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200"/>
              </a:lnSpc>
              <a:defRPr sz="1500" b="0" i="0">
                <a:solidFill>
                  <a:srgbClr val="666666"/>
                </a:solidFill>
                <a:latin typeface="Calibri"/>
              </a:defRPr>
            </a:pPr>
            <a:r>
              <a:t>países donde Ringana</a:t>
            </a:r>
            <a:br/>
            <a:r>
              <a:t>opera simultáneamente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743200"/>
            <a:ext cx="32004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7200" b="1" i="0">
                <a:solidFill>
                  <a:srgbClr val="1E2761"/>
                </a:solidFill>
                <a:latin typeface="Georgia"/>
              </a:defRPr>
            </a:pPr>
            <a: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3840480"/>
            <a:ext cx="3200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200"/>
              </a:lnSpc>
              <a:defRPr sz="1500" b="0" i="0">
                <a:solidFill>
                  <a:srgbClr val="666666"/>
                </a:solidFill>
                <a:latin typeface="Calibri"/>
              </a:defRPr>
            </a:pPr>
            <a:r>
              <a:t>redes sociales que</a:t>
            </a:r>
            <a:br/>
            <a:r>
              <a:t>alimentar cada semana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029200"/>
            <a:ext cx="1069848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303520"/>
            <a:ext cx="10515600" cy="914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200"/>
              </a:lnSpc>
              <a:defRPr sz="1500" b="0" i="1">
                <a:solidFill>
                  <a:srgbClr val="666666"/>
                </a:solidFill>
                <a:latin typeface="Calibri"/>
              </a:defRPr>
            </a:pPr>
            <a:r>
              <a:t>Los Partners de Ringana no son profesionales de marketing. Son apasionados de la cosmética natural que necesitan herramientas que hagan el trabajo creativo por ellos — respetando las estrictas directrices de marca.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2C5F2D"/>
                </a:solidFill>
                <a:latin typeface="Calibri"/>
              </a:defRPr>
            </a:pPr>
            <a:r>
              <a:t>LOS PROBLEMAS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400" b="1" i="0">
                <a:solidFill>
                  <a:srgbClr val="1A1A1A"/>
                </a:solidFill>
                <a:latin typeface="Georgia"/>
              </a:defRPr>
            </a:pPr>
            <a:r>
              <a:t>Lo que detectamos en Ringana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54864" cy="6858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 i="0">
                <a:solidFill>
                  <a:srgbClr val="2C5F2D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9202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 i="0">
                <a:solidFill>
                  <a:srgbClr val="1A1A1A"/>
                </a:solidFill>
                <a:latin typeface="Calibri"/>
              </a:defRPr>
            </a:pPr>
            <a:r>
              <a:t>Fatiga creativa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240280"/>
            <a:ext cx="9326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00"/>
              </a:lnSpc>
              <a:defRPr sz="1300" b="0" i="0">
                <a:solidFill>
                  <a:srgbClr val="666666"/>
                </a:solidFill>
                <a:latin typeface="Calibri"/>
              </a:defRPr>
            </a:pPr>
            <a:r>
              <a:t>Los Partners deben crear storytelling personal constante. La inspiración se agota tras semanas publicando a diario.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834640"/>
            <a:ext cx="54864" cy="685800"/>
          </a:xfrm>
          <a:prstGeom prst="rect">
            <a:avLst/>
          </a:prstGeom>
          <a:solidFill>
            <a:srgbClr val="C47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880360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 i="0">
                <a:solidFill>
                  <a:srgbClr val="C4748E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8346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 i="0">
                <a:solidFill>
                  <a:srgbClr val="1A1A1A"/>
                </a:solidFill>
                <a:latin typeface="Calibri"/>
              </a:defRPr>
            </a:pPr>
            <a:r>
              <a:t>Guías ultra-restrictivas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154680"/>
            <a:ext cx="9326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00"/>
              </a:lnSpc>
              <a:defRPr sz="1300" b="0" i="0">
                <a:solidFill>
                  <a:srgbClr val="666666"/>
                </a:solidFill>
                <a:latin typeface="Calibri"/>
              </a:defRPr>
            </a:pPr>
            <a:r>
              <a:t>No pueden modificar templates oficiales, crear material de marca propio ni hacer claims de salud. El margen creativo es mínimo.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749039"/>
            <a:ext cx="54864" cy="6858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794759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 i="0">
                <a:solidFill>
                  <a:srgbClr val="2C5F2D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749039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 i="0">
                <a:solidFill>
                  <a:srgbClr val="1A1A1A"/>
                </a:solidFill>
                <a:latin typeface="Calibri"/>
              </a:defRPr>
            </a:pPr>
            <a:r>
              <a:t>Presencia débil en video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069079"/>
            <a:ext cx="9326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00"/>
              </a:lnSpc>
              <a:defRPr sz="1300" b="0" i="0">
                <a:solidFill>
                  <a:srgbClr val="666666"/>
                </a:solidFill>
                <a:latin typeface="Calibri"/>
              </a:defRPr>
            </a:pPr>
            <a:r>
              <a:t>Solo 11.500 seguidores en TikTok vs 323.000 en Instagram. El formato video corto — el que más crece — está desatendido.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663440"/>
            <a:ext cx="54864" cy="685800"/>
          </a:xfrm>
          <a:prstGeom prst="rect">
            <a:avLst/>
          </a:prstGeom>
          <a:solidFill>
            <a:srgbClr val="C47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709159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 i="0">
                <a:solidFill>
                  <a:srgbClr val="C4748E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6634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 i="0">
                <a:solidFill>
                  <a:srgbClr val="1A1A1A"/>
                </a:solidFill>
                <a:latin typeface="Calibri"/>
              </a:defRPr>
            </a:pPr>
            <a:r>
              <a:t>Escala sin control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983479"/>
            <a:ext cx="9326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00"/>
              </a:lnSpc>
              <a:defRPr sz="1300" b="0" i="0">
                <a:solidFill>
                  <a:srgbClr val="666666"/>
                </a:solidFill>
                <a:latin typeface="Calibri"/>
              </a:defRPr>
            </a:pPr>
            <a:r>
              <a:t>100.000+ Partners generando contenido independiente en 38 países. Mantener coherencia de marca es casi imposible.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577840"/>
            <a:ext cx="54864" cy="6858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5623559"/>
            <a:ext cx="731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1" i="0">
                <a:solidFill>
                  <a:srgbClr val="2C5F2D"/>
                </a:solidFill>
                <a:latin typeface="Georgia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5778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 i="0">
                <a:solidFill>
                  <a:srgbClr val="1A1A1A"/>
                </a:solidFill>
                <a:latin typeface="Calibri"/>
              </a:defRPr>
            </a:pPr>
            <a:r>
              <a:t>Cero herramientas de 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0" y="5897879"/>
            <a:ext cx="9326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00"/>
              </a:lnSpc>
              <a:defRPr sz="1300" b="0" i="0">
                <a:solidFill>
                  <a:srgbClr val="666666"/>
                </a:solidFill>
                <a:latin typeface="Calibri"/>
              </a:defRPr>
            </a:pPr>
            <a:r>
              <a:t>Los Partners dependen de plantillas genéricas. No tienen acceso a generación inteligente de contenido adaptado a su contexto local.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" y="0"/>
            <a:ext cx="109728" cy="68580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97BC62"/>
                </a:solidFill>
                <a:latin typeface="Calibri"/>
              </a:defRPr>
            </a:pPr>
            <a:r>
              <a:t>LA SOLUCIÓN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914400"/>
            <a:ext cx="91440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5000"/>
              </a:lnSpc>
              <a:defRPr sz="3800" b="1" i="0">
                <a:solidFill>
                  <a:srgbClr val="FFFFFF"/>
                </a:solidFill>
                <a:latin typeface="Georgia"/>
              </a:defRPr>
            </a:pPr>
            <a:r>
              <a:t>Esteticai: IA especializada</a:t>
            </a:r>
            <a:br/>
            <a:r>
              <a:t>en belleza y cosmética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91440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400"/>
              </a:lnSpc>
              <a:defRPr sz="1600" b="0" i="0">
                <a:solidFill>
                  <a:srgbClr val="CADCFC"/>
                </a:solidFill>
                <a:latin typeface="Calibri"/>
              </a:defRPr>
            </a:pPr>
            <a:r>
              <a:t>Una plataforma SaaS que genera contenido profesional para redes sociales en segundos.</a:t>
            </a:r>
            <a:br/>
            <a:r>
              <a:t>Diseñada específicamente para profesionales de la estética y la cosmética natural.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3474720"/>
            <a:ext cx="3200400" cy="1234440"/>
          </a:xfrm>
          <a:prstGeom prst="roundRect">
            <a:avLst/>
          </a:prstGeom>
          <a:solidFill>
            <a:srgbClr val="28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80160" y="3703320"/>
            <a:ext cx="137160" cy="137160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3611879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Copys con 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977639"/>
            <a:ext cx="2560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defRPr sz="1200" b="0" i="0">
                <a:solidFill>
                  <a:srgbClr val="AABBCC"/>
                </a:solidFill>
                <a:latin typeface="Calibri"/>
              </a:defRPr>
            </a:pPr>
            <a:r>
              <a:t>Textos profesionales con hashtags,</a:t>
            </a:r>
            <a:br/>
            <a:r>
              <a:t>CTA y hora óptima de publicación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63440" y="3474720"/>
            <a:ext cx="3200400" cy="1234440"/>
          </a:xfrm>
          <a:prstGeom prst="roundRect">
            <a:avLst/>
          </a:prstGeom>
          <a:solidFill>
            <a:srgbClr val="28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846320" y="3703320"/>
            <a:ext cx="137160" cy="137160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59" y="3611879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Imágenes con 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59" y="3977639"/>
            <a:ext cx="2560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defRPr sz="1200" b="0" i="0">
                <a:solidFill>
                  <a:srgbClr val="AABBCC"/>
                </a:solidFill>
                <a:latin typeface="Calibri"/>
              </a:defRPr>
            </a:pPr>
            <a:r>
              <a:t>Fotos de producto y lifestyle</a:t>
            </a:r>
            <a:br/>
            <a:r>
              <a:t>generadas desde cero con Flux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3474720"/>
            <a:ext cx="3200400" cy="1234440"/>
          </a:xfrm>
          <a:prstGeom prst="roundRect">
            <a:avLst/>
          </a:prstGeom>
          <a:solidFill>
            <a:srgbClr val="28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12480" y="3703320"/>
            <a:ext cx="137160" cy="137160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32520" y="3611879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Videos para Reels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3977639"/>
            <a:ext cx="2560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defRPr sz="1200" b="0" i="0">
                <a:solidFill>
                  <a:srgbClr val="AABBCC"/>
                </a:solidFill>
                <a:latin typeface="Calibri"/>
              </a:defRPr>
            </a:pPr>
            <a:r>
              <a:t>Animaciones profesionales con</a:t>
            </a:r>
            <a:br/>
            <a:r>
              <a:t>Kling 3.0 para TikTok e IG Reels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4937760"/>
            <a:ext cx="3200400" cy="1234440"/>
          </a:xfrm>
          <a:prstGeom prst="roundRect">
            <a:avLst/>
          </a:prstGeom>
          <a:solidFill>
            <a:srgbClr val="28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280160" y="5166360"/>
            <a:ext cx="137160" cy="137160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00200" y="507492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Calendario Semanal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5440680"/>
            <a:ext cx="2560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defRPr sz="1200" b="0" i="0">
                <a:solidFill>
                  <a:srgbClr val="AABBCC"/>
                </a:solidFill>
                <a:latin typeface="Calibri"/>
              </a:defRPr>
            </a:pPr>
            <a:r>
              <a:t>Plan de 7 días con estrategia,</a:t>
            </a:r>
            <a:br/>
            <a:r>
              <a:t>exportable a PDF profesional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63440" y="4937760"/>
            <a:ext cx="3200400" cy="1234440"/>
          </a:xfrm>
          <a:prstGeom prst="roundRect">
            <a:avLst/>
          </a:prstGeom>
          <a:solidFill>
            <a:srgbClr val="28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846320" y="5166360"/>
            <a:ext cx="137160" cy="137160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66359" y="507492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Mejora de Fotos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59" y="5440680"/>
            <a:ext cx="2560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defRPr sz="1200" b="0" i="0">
                <a:solidFill>
                  <a:srgbClr val="AABBCC"/>
                </a:solidFill>
                <a:latin typeface="Calibri"/>
              </a:defRPr>
            </a:pPr>
            <a:r>
              <a:t>Eliminar fondo, añadir estudio</a:t>
            </a:r>
            <a:br/>
            <a:r>
              <a:t>profesional, mejorar calidad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0" y="4937760"/>
            <a:ext cx="3200400" cy="1234440"/>
          </a:xfrm>
          <a:prstGeom prst="roundRect">
            <a:avLst/>
          </a:prstGeom>
          <a:solidFill>
            <a:srgbClr val="28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412480" y="5166360"/>
            <a:ext cx="137160" cy="137160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32520" y="507492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Antes / Después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2520" y="5440680"/>
            <a:ext cx="25603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defRPr sz="1200" b="0" i="0">
                <a:solidFill>
                  <a:srgbClr val="AABBCC"/>
                </a:solidFill>
                <a:latin typeface="Calibri"/>
              </a:defRPr>
            </a:pPr>
            <a:r>
              <a:t>Composiciones profesionales</a:t>
            </a:r>
            <a:br/>
            <a:r>
              <a:t>con plantillas listas para publicar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2C5F2D"/>
                </a:solidFill>
                <a:latin typeface="Calibri"/>
              </a:defRPr>
            </a:pPr>
            <a:r>
              <a:t>FLUJO DE TRABAJO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400" b="1" i="0">
                <a:solidFill>
                  <a:srgbClr val="1A1A1A"/>
                </a:solidFill>
                <a:latin typeface="Georgia"/>
              </a:defRPr>
            </a:pPr>
            <a:r>
              <a:t>Así funciona para un Partner Ringana</a:t>
            </a:r>
          </a:p>
        </p:txBody>
      </p:sp>
      <p:sp>
        <p:nvSpPr>
          <p:cNvPr id="6" name="Oval 5"/>
          <p:cNvSpPr/>
          <p:nvPr/>
        </p:nvSpPr>
        <p:spPr>
          <a:xfrm>
            <a:off x="1188720" y="2103120"/>
            <a:ext cx="640080" cy="64008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103120"/>
            <a:ext cx="6400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 i="0">
                <a:solidFill>
                  <a:srgbClr val="FFFFFF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2377440"/>
            <a:ext cx="1005840" cy="3657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017520"/>
            <a:ext cx="2560320" cy="54864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3072384"/>
            <a:ext cx="2560320" cy="3200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20040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 i="0">
                <a:solidFill>
                  <a:srgbClr val="1A1A1A"/>
                </a:solidFill>
                <a:latin typeface="Calibri"/>
              </a:defRPr>
            </a:pPr>
            <a:r>
              <a:t>Configura su perfil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49039"/>
            <a:ext cx="219456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00"/>
              </a:lnSpc>
              <a:defRPr sz="1300" b="0" i="0">
                <a:solidFill>
                  <a:srgbClr val="666666"/>
                </a:solidFill>
                <a:latin typeface="Calibri"/>
              </a:defRPr>
            </a:pPr>
            <a:r>
              <a:t>Introduce nombre de marca</a:t>
            </a:r>
            <a:br/>
            <a:r>
              <a:t>(Ringana), productos</a:t>
            </a:r>
            <a:br/>
            <a:r>
              <a:t>que distribuye, tono</a:t>
            </a:r>
            <a:br/>
            <a:r>
              <a:t>(natural, fresco),</a:t>
            </a:r>
            <a:br/>
            <a:r>
              <a:t>valores y redes sociales.</a:t>
            </a:r>
          </a:p>
        </p:txBody>
      </p:sp>
      <p:sp>
        <p:nvSpPr>
          <p:cNvPr id="13" name="Oval 12"/>
          <p:cNvSpPr/>
          <p:nvPr/>
        </p:nvSpPr>
        <p:spPr>
          <a:xfrm>
            <a:off x="4023360" y="2103120"/>
            <a:ext cx="640080" cy="640080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0" y="2103120"/>
            <a:ext cx="6400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 i="0">
                <a:solidFill>
                  <a:srgbClr val="FFFFFF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2377440"/>
            <a:ext cx="1005840" cy="3657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66160" y="3017520"/>
            <a:ext cx="2560320" cy="54864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566160" y="3072384"/>
            <a:ext cx="2560320" cy="3200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40" y="320040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 i="0">
                <a:solidFill>
                  <a:srgbClr val="1A1A1A"/>
                </a:solidFill>
                <a:latin typeface="Calibri"/>
              </a:defRPr>
            </a:pPr>
            <a:r>
              <a:t>Elige qué crear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40" y="3749039"/>
            <a:ext cx="219456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00"/>
              </a:lnSpc>
              <a:defRPr sz="1300" b="0" i="0">
                <a:solidFill>
                  <a:srgbClr val="666666"/>
                </a:solidFill>
                <a:latin typeface="Calibri"/>
              </a:defRPr>
            </a:pPr>
            <a:r>
              <a:t>Selecciona herramienta:</a:t>
            </a:r>
            <a:br/>
            <a:r>
              <a:t>copy, imagen, video,</a:t>
            </a:r>
            <a:br/>
            <a:r>
              <a:t>calendario, composición</a:t>
            </a:r>
            <a:br/>
            <a:r>
              <a:t>o mejora de foto.</a:t>
            </a:r>
          </a:p>
        </p:txBody>
      </p:sp>
      <p:sp>
        <p:nvSpPr>
          <p:cNvPr id="20" name="Oval 19"/>
          <p:cNvSpPr/>
          <p:nvPr/>
        </p:nvSpPr>
        <p:spPr>
          <a:xfrm>
            <a:off x="6858000" y="2103120"/>
            <a:ext cx="640080" cy="640080"/>
          </a:xfrm>
          <a:prstGeom prst="ellipse">
            <a:avLst/>
          </a:prstGeom>
          <a:solidFill>
            <a:srgbClr val="C47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2103120"/>
            <a:ext cx="6400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 i="0">
                <a:solidFill>
                  <a:srgbClr val="FFFFFF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0" y="2377440"/>
            <a:ext cx="1005840" cy="3657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3017520"/>
            <a:ext cx="2560320" cy="54864"/>
          </a:xfrm>
          <a:prstGeom prst="rect">
            <a:avLst/>
          </a:prstGeom>
          <a:solidFill>
            <a:srgbClr val="C47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400800" y="3072384"/>
            <a:ext cx="2560320" cy="3200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320040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 i="0">
                <a:solidFill>
                  <a:srgbClr val="1A1A1A"/>
                </a:solidFill>
                <a:latin typeface="Calibri"/>
              </a:defRPr>
            </a:pPr>
            <a:r>
              <a:t>La IA genera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749039"/>
            <a:ext cx="219456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00"/>
              </a:lnSpc>
              <a:defRPr sz="1300" b="0" i="0">
                <a:solidFill>
                  <a:srgbClr val="666666"/>
                </a:solidFill>
                <a:latin typeface="Calibri"/>
              </a:defRPr>
            </a:pPr>
            <a:r>
              <a:t>En segundos, contenido</a:t>
            </a:r>
            <a:br/>
            <a:r>
              <a:t>profesional adaptado a</a:t>
            </a:r>
            <a:br/>
            <a:r>
              <a:t>su perfil, con hashtags,</a:t>
            </a:r>
            <a:br/>
            <a:r>
              <a:t>CTA y hora óptima</a:t>
            </a:r>
            <a:br/>
            <a:r>
              <a:t>de publicación.</a:t>
            </a:r>
          </a:p>
        </p:txBody>
      </p:sp>
      <p:sp>
        <p:nvSpPr>
          <p:cNvPr id="27" name="Oval 26"/>
          <p:cNvSpPr/>
          <p:nvPr/>
        </p:nvSpPr>
        <p:spPr>
          <a:xfrm>
            <a:off x="9692640" y="2103120"/>
            <a:ext cx="640080" cy="64008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2640" y="2103120"/>
            <a:ext cx="64008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 i="0">
                <a:solidFill>
                  <a:srgbClr val="FFFFFF"/>
                </a:solidFill>
                <a:latin typeface="Georgia"/>
              </a:defRPr>
            </a:pPr>
            <a:r>
              <a:t>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235440" y="3017520"/>
            <a:ext cx="2560320" cy="54864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235440" y="3072384"/>
            <a:ext cx="2560320" cy="320040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18320" y="3200400"/>
            <a:ext cx="2194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1" i="0">
                <a:solidFill>
                  <a:srgbClr val="1A1A1A"/>
                </a:solidFill>
                <a:latin typeface="Calibri"/>
              </a:defRPr>
            </a:pPr>
            <a:r>
              <a:t>Publica y crece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3749039"/>
            <a:ext cx="2194560" cy="2103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00"/>
              </a:lnSpc>
              <a:defRPr sz="1300" b="0" i="0">
                <a:solidFill>
                  <a:srgbClr val="666666"/>
                </a:solidFill>
                <a:latin typeface="Calibri"/>
              </a:defRPr>
            </a:pPr>
            <a:r>
              <a:t>Descarga, copia o</a:t>
            </a:r>
            <a:br/>
            <a:r>
              <a:t>exporta el contenido.</a:t>
            </a:r>
            <a:br/>
            <a:r>
              <a:t>Listo para publicar en</a:t>
            </a:r>
            <a:br/>
            <a:r>
              <a:t>Instagram, TikTok,</a:t>
            </a:r>
            <a:br/>
            <a:r>
              <a:t>Facebook o LinkedIn.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2C5F2D"/>
                </a:solidFill>
                <a:latin typeface="Calibri"/>
              </a:defRPr>
            </a:pPr>
            <a:r>
              <a:t>CASO DE USO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600"/>
              </a:lnSpc>
              <a:defRPr sz="3400" b="1" i="0">
                <a:solidFill>
                  <a:srgbClr val="1A1A1A"/>
                </a:solidFill>
                <a:latin typeface="Georgia"/>
              </a:defRPr>
            </a:pPr>
            <a:r>
              <a:t>Una semana en la vida de una</a:t>
            </a:r>
            <a:br/>
            <a:r>
              <a:t>Partner Ringana con Esteticai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560320"/>
            <a:ext cx="141732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560320"/>
            <a:ext cx="1417320" cy="54864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1417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 i="0">
                <a:solidFill>
                  <a:srgbClr val="2C5F2D"/>
                </a:solidFill>
                <a:latin typeface="Georgia"/>
              </a:defRPr>
            </a:pPr>
            <a:r>
              <a:t>LUN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123444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100" b="0" i="0">
                <a:solidFill>
                  <a:srgbClr val="1A1A1A"/>
                </a:solidFill>
                <a:latin typeface="Calibri"/>
              </a:defRPr>
            </a:pPr>
            <a:r>
              <a:t>Copy educativo sobre</a:t>
            </a:r>
            <a:br/>
            <a:r>
              <a:t>cosmética fresca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03520"/>
            <a:ext cx="1234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1">
                <a:solidFill>
                  <a:srgbClr val="666666"/>
                </a:solidFill>
                <a:latin typeface="Calibri"/>
              </a:defRPr>
            </a:pPr>
            <a:r>
              <a:t>Instagram Feed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48840" y="2560320"/>
            <a:ext cx="141732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48840" y="2560320"/>
            <a:ext cx="1417320" cy="54864"/>
          </a:xfrm>
          <a:prstGeom prst="rect">
            <a:avLst/>
          </a:prstGeom>
          <a:solidFill>
            <a:srgbClr val="C47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48840" y="2743200"/>
            <a:ext cx="1417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 i="0">
                <a:solidFill>
                  <a:srgbClr val="C4748E"/>
                </a:solidFill>
                <a:latin typeface="Georgia"/>
              </a:defRPr>
            </a:pPr>
            <a:r>
              <a:t>MAR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3200400"/>
            <a:ext cx="123444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100" b="0" i="0">
                <a:solidFill>
                  <a:srgbClr val="1A1A1A"/>
                </a:solidFill>
                <a:latin typeface="Calibri"/>
              </a:defRPr>
            </a:pPr>
            <a:r>
              <a:t>Imagen IA: producto</a:t>
            </a:r>
            <a:br/>
            <a:r>
              <a:t>RINGANA con fondo</a:t>
            </a:r>
            <a:br/>
            <a:r>
              <a:t>naturaleza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5303520"/>
            <a:ext cx="1234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1">
                <a:solidFill>
                  <a:srgbClr val="666666"/>
                </a:solidFill>
                <a:latin typeface="Calibri"/>
              </a:defRPr>
            </a:pPr>
            <a:r>
              <a:t>Instagram Feed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49039" y="2560320"/>
            <a:ext cx="141732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49039" y="2560320"/>
            <a:ext cx="1417320" cy="54864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39" y="2743200"/>
            <a:ext cx="1417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 i="0">
                <a:solidFill>
                  <a:srgbClr val="2C5F2D"/>
                </a:solidFill>
                <a:latin typeface="Georgia"/>
              </a:defRPr>
            </a:pPr>
            <a:r>
              <a:t>MIÉ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79" y="3200400"/>
            <a:ext cx="123444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100" b="0" i="0">
                <a:solidFill>
                  <a:srgbClr val="1A1A1A"/>
                </a:solidFill>
                <a:latin typeface="Calibri"/>
              </a:defRPr>
            </a:pPr>
            <a:r>
              <a:t>Video Reel: rutina</a:t>
            </a:r>
            <a:br/>
            <a:r>
              <a:t>de skincare matutina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79" y="5303520"/>
            <a:ext cx="1234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1">
                <a:solidFill>
                  <a:srgbClr val="666666"/>
                </a:solidFill>
                <a:latin typeface="Calibri"/>
              </a:defRPr>
            </a:pPr>
            <a:r>
              <a:t>TikTok + Reels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49240" y="2560320"/>
            <a:ext cx="141732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49240" y="2560320"/>
            <a:ext cx="1417320" cy="54864"/>
          </a:xfrm>
          <a:prstGeom prst="rect">
            <a:avLst/>
          </a:prstGeom>
          <a:solidFill>
            <a:srgbClr val="C47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49240" y="2743200"/>
            <a:ext cx="1417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 i="0">
                <a:solidFill>
                  <a:srgbClr val="C4748E"/>
                </a:solidFill>
                <a:latin typeface="Georgia"/>
              </a:defRPr>
            </a:pPr>
            <a:r>
              <a:t>JUE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79" y="3200400"/>
            <a:ext cx="123444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100" b="0" i="0">
                <a:solidFill>
                  <a:srgbClr val="1A1A1A"/>
                </a:solidFill>
                <a:latin typeface="Calibri"/>
              </a:defRPr>
            </a:pPr>
            <a:r>
              <a:t>Copy testimonio:</a:t>
            </a:r>
            <a:br/>
            <a:r>
              <a:t>experiencia personal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79" y="5303520"/>
            <a:ext cx="1234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1">
                <a:solidFill>
                  <a:srgbClr val="666666"/>
                </a:solidFill>
                <a:latin typeface="Calibri"/>
              </a:defRPr>
            </a:pPr>
            <a:r>
              <a:t>Facebook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49440" y="2560320"/>
            <a:ext cx="141732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949440" y="2560320"/>
            <a:ext cx="1417320" cy="54864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0" y="2743200"/>
            <a:ext cx="1417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 i="0">
                <a:solidFill>
                  <a:srgbClr val="2C5F2D"/>
                </a:solidFill>
                <a:latin typeface="Georgia"/>
              </a:defRPr>
            </a:pPr>
            <a:r>
              <a:t>VIE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79" y="3200400"/>
            <a:ext cx="123444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100" b="0" i="0">
                <a:solidFill>
                  <a:srgbClr val="1A1A1A"/>
                </a:solidFill>
                <a:latin typeface="Calibri"/>
              </a:defRPr>
            </a:pPr>
            <a:r>
              <a:t>Foto mejorada de</a:t>
            </a:r>
            <a:br/>
            <a:r>
              <a:t>productos con fondo</a:t>
            </a:r>
            <a:br/>
            <a:r>
              <a:t>estudio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79" y="5303520"/>
            <a:ext cx="1234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1">
                <a:solidFill>
                  <a:srgbClr val="666666"/>
                </a:solidFill>
                <a:latin typeface="Calibri"/>
              </a:defRPr>
            </a:pPr>
            <a:r>
              <a:t>Instagram Stories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49640" y="2560320"/>
            <a:ext cx="141732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549640" y="2560320"/>
            <a:ext cx="1417320" cy="54864"/>
          </a:xfrm>
          <a:prstGeom prst="rect">
            <a:avLst/>
          </a:prstGeom>
          <a:solidFill>
            <a:srgbClr val="C47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49640" y="2743200"/>
            <a:ext cx="1417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 i="0">
                <a:solidFill>
                  <a:srgbClr val="C4748E"/>
                </a:solidFill>
                <a:latin typeface="Georgia"/>
              </a:defRPr>
            </a:pPr>
            <a:r>
              <a:t>SÁB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41080" y="3200400"/>
            <a:ext cx="123444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100" b="0" i="0">
                <a:solidFill>
                  <a:srgbClr val="1A1A1A"/>
                </a:solidFill>
                <a:latin typeface="Calibri"/>
              </a:defRPr>
            </a:pPr>
            <a:r>
              <a:t>Composición antes/</a:t>
            </a:r>
            <a:br/>
            <a:r>
              <a:t>después de rutina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41080" y="5303520"/>
            <a:ext cx="1234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1">
                <a:solidFill>
                  <a:srgbClr val="666666"/>
                </a:solidFill>
                <a:latin typeface="Calibri"/>
              </a:defRPr>
            </a:pPr>
            <a:r>
              <a:t>Instagram Feed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149840" y="2560320"/>
            <a:ext cx="141732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149840" y="2560320"/>
            <a:ext cx="1417320" cy="54864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149840" y="2743200"/>
            <a:ext cx="1417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 i="0">
                <a:solidFill>
                  <a:srgbClr val="2C5F2D"/>
                </a:solidFill>
                <a:latin typeface="Georgia"/>
              </a:defRPr>
            </a:pPr>
            <a:r>
              <a:t>DOM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3200400"/>
            <a:ext cx="123444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600"/>
              </a:lnSpc>
              <a:defRPr sz="1100" b="0" i="0">
                <a:solidFill>
                  <a:srgbClr val="1A1A1A"/>
                </a:solidFill>
                <a:latin typeface="Calibri"/>
              </a:defRPr>
            </a:pPr>
            <a:r>
              <a:t>Copy motivacional +</a:t>
            </a:r>
            <a:br/>
            <a:r>
              <a:t>valores de marca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0" y="5303520"/>
            <a:ext cx="1234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 i="1">
                <a:solidFill>
                  <a:srgbClr val="666666"/>
                </a:solidFill>
                <a:latin typeface="Calibri"/>
              </a:defRPr>
            </a:pPr>
            <a:r>
              <a:t>LinkedIn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6217920"/>
            <a:ext cx="10515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1">
                <a:solidFill>
                  <a:srgbClr val="2C5F2D"/>
                </a:solidFill>
                <a:latin typeface="Calibri"/>
              </a:defRPr>
            </a:pPr>
            <a:r>
              <a:t>Todo esto generado automáticamente con un solo clic en 'Calendario Semanal'. Incluye estrategia, hashtags y horarios óptimos. Exportable a PDF.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2C5F2D"/>
                </a:solidFill>
                <a:latin typeface="Calibri"/>
              </a:defRPr>
            </a:pPr>
            <a:r>
              <a:t>ENCAJE ESTRATÉGICO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4600"/>
              </a:lnSpc>
              <a:defRPr sz="3400" b="1" i="0">
                <a:solidFill>
                  <a:srgbClr val="1A1A1A"/>
                </a:solidFill>
                <a:latin typeface="Georgia"/>
              </a:defRPr>
            </a:pPr>
            <a:r>
              <a:t>Por qué Esteticai es la herramienta</a:t>
            </a:r>
            <a:br/>
            <a:r>
              <a:t>que Ringana necesita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286000"/>
            <a:ext cx="54864" cy="10972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8600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 i="0">
                <a:solidFill>
                  <a:srgbClr val="1A1A1A"/>
                </a:solidFill>
                <a:latin typeface="Calibri"/>
              </a:defRPr>
            </a:pPr>
            <a:r>
              <a:t>Conocimiento del sector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06040"/>
            <a:ext cx="50292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La IA de Esteticai está entrenada con una base de conocimiento de 26+ tratamientos y servicios de estética y cosmética natural. Entiende la terminología, los ingredientes y las tendencias del sector.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286000"/>
            <a:ext cx="54864" cy="1097280"/>
          </a:xfrm>
          <a:prstGeom prst="rect">
            <a:avLst/>
          </a:prstGeom>
          <a:solidFill>
            <a:srgbClr val="C47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228600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 i="0">
                <a:solidFill>
                  <a:srgbClr val="1A1A1A"/>
                </a:solidFill>
                <a:latin typeface="Calibri"/>
              </a:defRPr>
            </a:pPr>
            <a:r>
              <a:t>Resuelve la fatiga creativa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606040"/>
            <a:ext cx="50292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Genera contenido variado automáticamente: 8 tipos de copy (educativo, testimonio, producto, BTS, tendencia...) con rotación inteligente para no repetirse.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703320"/>
            <a:ext cx="54864" cy="10972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70332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 i="0">
                <a:solidFill>
                  <a:srgbClr val="1A1A1A"/>
                </a:solidFill>
                <a:latin typeface="Calibri"/>
              </a:defRPr>
            </a:pPr>
            <a:r>
              <a:t>Respeta las reglas de marca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023359"/>
            <a:ext cx="50292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El tono de comunicación se configura por perfil. Los copys se generan con el lenguaje de Ringana: naturaleza, frescura, sostenibilidad, transparencia. Sin claims de salud.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703320"/>
            <a:ext cx="54864" cy="1097280"/>
          </a:xfrm>
          <a:prstGeom prst="rect">
            <a:avLst/>
          </a:prstGeom>
          <a:solidFill>
            <a:srgbClr val="C47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370332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 i="0">
                <a:solidFill>
                  <a:srgbClr val="1A1A1A"/>
                </a:solidFill>
                <a:latin typeface="Calibri"/>
              </a:defRPr>
            </a:pPr>
            <a:r>
              <a:t>Potencia el video corto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4023359"/>
            <a:ext cx="50292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Videos de 5-10 segundos con 7 tipos de movimiento profesional. La pieza que falta en la estrategia de TikTok de Ringana, donde solo tienen 11.500 seguidores.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5120640"/>
            <a:ext cx="54864" cy="10972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12064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 i="0">
                <a:solidFill>
                  <a:srgbClr val="1A1A1A"/>
                </a:solidFill>
                <a:latin typeface="Calibri"/>
              </a:defRPr>
            </a:pPr>
            <a:r>
              <a:t>Escalable a 100K Partners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440679"/>
            <a:ext cx="50292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Cada Partner configura su perfil una vez. Después, genera contenido ilimitado adaptado a su contexto local, idioma y mercado.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5120640"/>
            <a:ext cx="54864" cy="1097280"/>
          </a:xfrm>
          <a:prstGeom prst="rect">
            <a:avLst/>
          </a:prstGeom>
          <a:solidFill>
            <a:srgbClr val="C47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5120640"/>
            <a:ext cx="50292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 i="0">
                <a:solidFill>
                  <a:srgbClr val="1A1A1A"/>
                </a:solidFill>
                <a:latin typeface="Calibri"/>
              </a:defRPr>
            </a:pPr>
            <a:r>
              <a:t>Coste accesible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5440679"/>
            <a:ext cx="50292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800"/>
              </a:lnSpc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Desde 59€/mes vs. 300-800€/mes de un community manager. Para una red de 100K Partners, la diferencia es estratégica.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" y="0"/>
            <a:ext cx="109728" cy="68580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97BC62"/>
                </a:solidFill>
                <a:latin typeface="Calibri"/>
              </a:defRPr>
            </a:pPr>
            <a:r>
              <a:t>MODELO COMERCIAL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9144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 i="0">
                <a:solidFill>
                  <a:srgbClr val="FFFFFF"/>
                </a:solidFill>
                <a:latin typeface="Georgia"/>
              </a:defRPr>
            </a:pPr>
            <a:r>
              <a:t>Opciones de colaboración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011680"/>
            <a:ext cx="3200400" cy="4114800"/>
          </a:xfrm>
          <a:prstGeom prst="roundRect">
            <a:avLst/>
          </a:prstGeom>
          <a:solidFill>
            <a:srgbClr val="28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2011680"/>
            <a:ext cx="3200400" cy="7315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860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2C5F2D"/>
                </a:solidFill>
                <a:latin typeface="Calibri"/>
              </a:defRPr>
            </a:pPr>
            <a:r>
              <a:t>OPCIÓN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51760"/>
            <a:ext cx="2651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FFFFFF"/>
                </a:solidFill>
                <a:latin typeface="Georgia"/>
              </a:defRPr>
            </a:pPr>
            <a:r>
              <a:t>White Label para Ringana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265176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00"/>
              </a:lnSpc>
              <a:defRPr sz="1300" b="0" i="0">
                <a:solidFill>
                  <a:srgbClr val="AABBCC"/>
                </a:solidFill>
                <a:latin typeface="Calibri"/>
              </a:defRPr>
            </a:pPr>
            <a:r>
              <a:t>Esteticai se integra bajo la marca</a:t>
            </a:r>
            <a:br/>
            <a:r>
              <a:t>Ringana. Los Partners acceden como</a:t>
            </a:r>
            <a:br/>
            <a:r>
              <a:t>parte de su kit de marketing oficial.</a:t>
            </a:r>
            <a:br/>
            <a:r>
              <a:t>Ringana controla tono y directrices.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5394960"/>
            <a:ext cx="2651760" cy="41148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5394960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Ideal para control total de marca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2011680"/>
            <a:ext cx="3200400" cy="4114800"/>
          </a:xfrm>
          <a:prstGeom prst="roundRect">
            <a:avLst/>
          </a:prstGeom>
          <a:solidFill>
            <a:srgbClr val="28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63440" y="2011680"/>
            <a:ext cx="3200400" cy="73152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37759" y="22860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97BC62"/>
                </a:solidFill>
                <a:latin typeface="Calibri"/>
              </a:defRPr>
            </a:pPr>
            <a:r>
              <a:t>OPCIÓN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59" y="2651760"/>
            <a:ext cx="2651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FFFFFF"/>
                </a:solidFill>
                <a:latin typeface="Georgia"/>
              </a:defRPr>
            </a:pPr>
            <a:r>
              <a:t>Licencia B2B por volumen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59" y="3200400"/>
            <a:ext cx="265176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00"/>
              </a:lnSpc>
              <a:defRPr sz="1300" b="0" i="0">
                <a:solidFill>
                  <a:srgbClr val="AABBCC"/>
                </a:solidFill>
                <a:latin typeface="Calibri"/>
              </a:defRPr>
            </a:pPr>
            <a:r>
              <a:t>Ringana adquiere licencias Pro o</a:t>
            </a:r>
            <a:br/>
            <a:r>
              <a:t>Business en bloque con descuento</a:t>
            </a:r>
            <a:br/>
            <a:r>
              <a:t>por volumen. Cada Partner accede</a:t>
            </a:r>
            <a:br/>
            <a:r>
              <a:t>con su propia cuenta y perfil.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7759" y="5394960"/>
            <a:ext cx="2651760" cy="411480"/>
          </a:xfrm>
          <a:prstGeom prst="round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59" y="5394960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Ideal para escalar rápidamente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2011680"/>
            <a:ext cx="3200400" cy="4114800"/>
          </a:xfrm>
          <a:prstGeom prst="roundRect">
            <a:avLst/>
          </a:prstGeom>
          <a:solidFill>
            <a:srgbClr val="2833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229600" y="2011680"/>
            <a:ext cx="3200400" cy="73152"/>
          </a:xfrm>
          <a:prstGeom prst="rect">
            <a:avLst/>
          </a:prstGeom>
          <a:solidFill>
            <a:srgbClr val="C47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2286000"/>
            <a:ext cx="2743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1" i="0">
                <a:solidFill>
                  <a:srgbClr val="C4748E"/>
                </a:solidFill>
                <a:latin typeface="Calibri"/>
              </a:defRPr>
            </a:pPr>
            <a:r>
              <a:t>OPCIÓN 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2651760"/>
            <a:ext cx="26517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FFFFFF"/>
                </a:solidFill>
                <a:latin typeface="Georgia"/>
              </a:defRPr>
            </a:pPr>
            <a:r>
              <a:t>Partnership estratégico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200400"/>
            <a:ext cx="265176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00"/>
              </a:lnSpc>
              <a:defRPr sz="1300" b="0" i="0">
                <a:solidFill>
                  <a:srgbClr val="AABBCC"/>
                </a:solidFill>
                <a:latin typeface="Calibri"/>
              </a:defRPr>
            </a:pPr>
            <a:r>
              <a:t>Esteticai como partner tecnológico</a:t>
            </a:r>
            <a:br/>
            <a:r>
              <a:t>oficial. Features exclusivas,</a:t>
            </a:r>
            <a:br/>
            <a:r>
              <a:t>integración con sistema de Partners</a:t>
            </a:r>
            <a:br/>
            <a:r>
              <a:t>y analytics de contenido.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03920" y="5394960"/>
            <a:ext cx="2651760" cy="411480"/>
          </a:xfrm>
          <a:prstGeom prst="roundRect">
            <a:avLst/>
          </a:prstGeom>
          <a:solidFill>
            <a:srgbClr val="C47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0" y="5394960"/>
            <a:ext cx="2651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 i="0">
                <a:solidFill>
                  <a:srgbClr val="FFFFFF"/>
                </a:solidFill>
                <a:latin typeface="Calibri"/>
              </a:defRPr>
            </a:pPr>
            <a:r>
              <a:t>Ideal para diferenciación competitiva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2743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2C5F2D"/>
                </a:solidFill>
                <a:latin typeface="Calibri"/>
              </a:defRPr>
            </a:pPr>
            <a:r>
              <a:t>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 i="0">
                <a:solidFill>
                  <a:srgbClr val="1A1A1A"/>
                </a:solidFill>
                <a:latin typeface="Georgia"/>
              </a:defRPr>
            </a:pPr>
            <a:r>
              <a:t>El impacto en números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2560320" cy="2560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25603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5400" b="1" i="0">
                <a:solidFill>
                  <a:srgbClr val="2C5F2D"/>
                </a:solidFill>
                <a:latin typeface="Georgia"/>
              </a:defRPr>
            </a:pPr>
            <a:r>
              <a:t>85%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700" b="1" i="0">
                <a:solidFill>
                  <a:srgbClr val="1A1A1A"/>
                </a:solidFill>
                <a:latin typeface="Calibri"/>
              </a:defRPr>
            </a:pPr>
            <a:r>
              <a:t>menos tiempo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2560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900"/>
              </a:lnSpc>
              <a:defRPr sz="1300" b="0" i="0">
                <a:solidFill>
                  <a:srgbClr val="666666"/>
                </a:solidFill>
                <a:latin typeface="Calibri"/>
              </a:defRPr>
            </a:pPr>
            <a:r>
              <a:t>creando contenido</a:t>
            </a:r>
            <a:br/>
            <a:r>
              <a:t>vs. hacerlo manualmente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2103120"/>
            <a:ext cx="2560320" cy="2560320"/>
          </a:xfrm>
          <a:prstGeom prst="roundRect">
            <a:avLst/>
          </a:prstGeom>
          <a:solidFill>
            <a:srgbClr val="F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286000"/>
            <a:ext cx="25603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5400" b="1" i="0">
                <a:solidFill>
                  <a:srgbClr val="C4748E"/>
                </a:solidFill>
                <a:latin typeface="Georgia"/>
              </a:defRPr>
            </a:pPr>
            <a:r>
              <a:t>4-7x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320040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700" b="1" i="0">
                <a:solidFill>
                  <a:srgbClr val="1A1A1A"/>
                </a:solidFill>
                <a:latin typeface="Calibri"/>
              </a:defRPr>
            </a:pPr>
            <a:r>
              <a:t>más publicaciones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657600"/>
            <a:ext cx="2560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900"/>
              </a:lnSpc>
              <a:defRPr sz="1300" b="0" i="0">
                <a:solidFill>
                  <a:srgbClr val="666666"/>
                </a:solidFill>
                <a:latin typeface="Calibri"/>
              </a:defRPr>
            </a:pPr>
            <a:r>
              <a:t>por Partner al mes</a:t>
            </a:r>
            <a:br/>
            <a:r>
              <a:t>con calidad profesional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103120"/>
            <a:ext cx="2560320" cy="25603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286000"/>
            <a:ext cx="25603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5400" b="1" i="0">
                <a:solidFill>
                  <a:srgbClr val="2C5F2D"/>
                </a:solidFill>
                <a:latin typeface="Georgia"/>
              </a:defRPr>
            </a:pPr>
            <a:r>
              <a:t>59€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0040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700" b="1" i="0">
                <a:solidFill>
                  <a:srgbClr val="1A1A1A"/>
                </a:solidFill>
                <a:latin typeface="Calibri"/>
              </a:defRPr>
            </a:pPr>
            <a:r>
              <a:t>vs 300-800€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657600"/>
            <a:ext cx="2560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900"/>
              </a:lnSpc>
              <a:defRPr sz="1300" b="0" i="0">
                <a:solidFill>
                  <a:srgbClr val="666666"/>
                </a:solidFill>
                <a:latin typeface="Calibri"/>
              </a:defRPr>
            </a:pPr>
            <a:r>
              <a:t>coste de community manager</a:t>
            </a:r>
            <a:br/>
            <a:r>
              <a:t>ahorro de hasta 90%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2103120"/>
            <a:ext cx="2560320" cy="2560320"/>
          </a:xfrm>
          <a:prstGeom prst="roundRect">
            <a:avLst/>
          </a:prstGeom>
          <a:solidFill>
            <a:srgbClr val="F8E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5440" y="2286000"/>
            <a:ext cx="25603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5400" b="1" i="0">
                <a:solidFill>
                  <a:srgbClr val="C4748E"/>
                </a:solidFill>
                <a:latin typeface="Georgia"/>
              </a:defRPr>
            </a:pPr>
            <a:r>
              <a:t>&lt; 30s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320040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700" b="1" i="0">
                <a:solidFill>
                  <a:srgbClr val="1A1A1A"/>
                </a:solidFill>
                <a:latin typeface="Calibri"/>
              </a:defRPr>
            </a:pPr>
            <a:r>
              <a:t>por pieza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3657600"/>
            <a:ext cx="2560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ts val="1900"/>
              </a:lnSpc>
              <a:defRPr sz="1300" b="0" i="0">
                <a:solidFill>
                  <a:srgbClr val="666666"/>
                </a:solidFill>
                <a:latin typeface="Calibri"/>
              </a:defRPr>
            </a:pPr>
            <a:r>
              <a:t>tiempo medio de generación</a:t>
            </a:r>
            <a:br/>
            <a:r>
              <a:t>de un copy o imagen con IA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120640"/>
            <a:ext cx="1069848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303520"/>
            <a:ext cx="10058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 i="0">
                <a:solidFill>
                  <a:srgbClr val="1A1A1A"/>
                </a:solidFill>
                <a:latin typeface="Calibri"/>
              </a:defRPr>
            </a:pPr>
            <a:r>
              <a:t>Comparativa: Si el 1% de Partners (1.000) adopta Esteticai Pro a 149€/mes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669280"/>
            <a:ext cx="10058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 i="0">
                <a:solidFill>
                  <a:srgbClr val="2C5F2D"/>
                </a:solidFill>
                <a:latin typeface="Calibri"/>
              </a:defRPr>
            </a:pPr>
            <a:r>
              <a:t>= 149.000€/mes de ingresos recurrentes  •  1.788.000€/año  •  Escalable al 100% de la red sin coste adicional de infraestructura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2C5F2D"/>
                </a:solidFill>
                <a:latin typeface="Calibri"/>
              </a:defRPr>
            </a:pPr>
            <a:r>
              <a:t>TECNOLOGÍA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400" b="1" i="0">
                <a:solidFill>
                  <a:srgbClr val="1A1A1A"/>
                </a:solidFill>
                <a:latin typeface="Georgia"/>
              </a:defRPr>
            </a:pPr>
            <a:r>
              <a:t>Stack técnico y seguridad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3035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2286000"/>
            <a:ext cx="182880" cy="18288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19456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1A1A1A"/>
                </a:solidFill>
                <a:latin typeface="Calibri"/>
              </a:defRPr>
            </a:pPr>
            <a:r>
              <a:t>IA de última generación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606040"/>
            <a:ext cx="43891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00"/>
              </a:lnSpc>
              <a:defRPr sz="1300" b="0" i="0">
                <a:solidFill>
                  <a:srgbClr val="666666"/>
                </a:solidFill>
                <a:latin typeface="Calibri"/>
              </a:defRPr>
            </a:pPr>
            <a:r>
              <a:t>Anthropic Claude para textos inteligentes</a:t>
            </a:r>
            <a:br/>
            <a:r>
              <a:t>Flux + Kling 3.0 para imagen y video</a:t>
            </a:r>
            <a:br/>
            <a:r>
              <a:t>BiRefNet + Crystal para mejora de fotos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011680"/>
            <a:ext cx="53035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675120" y="2286000"/>
            <a:ext cx="182880" cy="182880"/>
          </a:xfrm>
          <a:prstGeom prst="ellipse">
            <a:avLst/>
          </a:prstGeom>
          <a:solidFill>
            <a:srgbClr val="C47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219456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1A1A1A"/>
                </a:solidFill>
                <a:latin typeface="Calibri"/>
              </a:defRPr>
            </a:pPr>
            <a:r>
              <a:t>Infraestructura cloud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0880" y="2606040"/>
            <a:ext cx="43891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00"/>
              </a:lnSpc>
              <a:defRPr sz="1300" b="0" i="0">
                <a:solidFill>
                  <a:srgbClr val="666666"/>
                </a:solidFill>
                <a:latin typeface="Calibri"/>
              </a:defRPr>
            </a:pPr>
            <a:r>
              <a:t>Desplegado en Railway (auto-scaling)</a:t>
            </a:r>
            <a:br/>
            <a:r>
              <a:t>HTTPS + HSTS + CSP headers</a:t>
            </a:r>
            <a:br/>
            <a:r>
              <a:t>99.9% uptime garantizado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06240"/>
            <a:ext cx="53035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5840" y="4480559"/>
            <a:ext cx="182880" cy="18288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438912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1A1A1A"/>
                </a:solidFill>
                <a:latin typeface="Calibri"/>
              </a:defRPr>
            </a:pPr>
            <a:r>
              <a:t>Cumplimiento RGPD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800600"/>
            <a:ext cx="43891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00"/>
              </a:lnSpc>
              <a:defRPr sz="1300" b="0" i="0">
                <a:solidFill>
                  <a:srgbClr val="666666"/>
                </a:solidFill>
                <a:latin typeface="Calibri"/>
              </a:defRPr>
            </a:pPr>
            <a:r>
              <a:t>Exportación de datos (Art. 20)</a:t>
            </a:r>
            <a:br/>
            <a:r>
              <a:t>Eliminación de cuenta verificada</a:t>
            </a:r>
            <a:br/>
            <a:r>
              <a:t>Cookie banner + política de privacidad</a:t>
            </a:r>
            <a:br/>
            <a:r>
              <a:t>Datos en la 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206240"/>
            <a:ext cx="5303520" cy="18288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675120" y="4480559"/>
            <a:ext cx="182880" cy="182880"/>
          </a:xfrm>
          <a:prstGeom prst="ellipse">
            <a:avLst/>
          </a:prstGeom>
          <a:solidFill>
            <a:srgbClr val="C47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0" y="4389120"/>
            <a:ext cx="41148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 i="0">
                <a:solidFill>
                  <a:srgbClr val="1A1A1A"/>
                </a:solidFill>
                <a:latin typeface="Calibri"/>
              </a:defRPr>
            </a:pPr>
            <a:r>
              <a:t>Seguridad enterprise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0" y="4800600"/>
            <a:ext cx="43891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900"/>
              </a:lnSpc>
              <a:defRPr sz="1300" b="0" i="0">
                <a:solidFill>
                  <a:srgbClr val="666666"/>
                </a:solidFill>
                <a:latin typeface="Calibri"/>
              </a:defRPr>
            </a:pPr>
            <a:r>
              <a:t>Autenticación bcrypt + rate limiting</a:t>
            </a:r>
            <a:br/>
            <a:r>
              <a:t>Protección CSRF en todos los forms</a:t>
            </a:r>
            <a:br/>
            <a:r>
              <a:t>Sanitización de inputs + XSS prevention</a:t>
            </a:r>
            <a:br/>
            <a:r>
              <a:t>Logging estructurado con request tracing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2C5F2D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400" b="1" i="0">
                <a:solidFill>
                  <a:srgbClr val="1A1A1A"/>
                </a:solidFill>
                <a:latin typeface="Georgia"/>
              </a:defRPr>
            </a:pPr>
            <a:r>
              <a:t>Evolución del producto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2286000"/>
            <a:ext cx="1554480" cy="3657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08760" y="2011680"/>
            <a:ext cx="640080" cy="64008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 i="0">
                <a:solidFill>
                  <a:srgbClr val="2C5F2D"/>
                </a:solidFill>
                <a:latin typeface="Calibri"/>
              </a:defRPr>
            </a:pPr>
            <a:r>
              <a:t>Q3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 i="0">
                <a:solidFill>
                  <a:srgbClr val="1A1A1A"/>
                </a:solidFill>
                <a:latin typeface="Georgia"/>
              </a:defRPr>
            </a:pPr>
            <a:r>
              <a:t>POC Ringana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49039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00"/>
              </a:lnSpc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•  Onboarding personalizado Ringana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51959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00"/>
              </a:lnSpc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•  Templates con identidad visual verde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754879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00"/>
              </a:lnSpc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•  Base de conocimiento: cosmética fresca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25780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00"/>
              </a:lnSpc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•  Piloto con 50-100 Partners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88720" y="5943600"/>
            <a:ext cx="1645920" cy="36576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5943600"/>
            <a:ext cx="16459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ESTAMOS AQUÍ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2286000"/>
            <a:ext cx="1554480" cy="3657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43400" y="2011680"/>
            <a:ext cx="548640" cy="548640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283464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 i="0">
                <a:solidFill>
                  <a:srgbClr val="97BC62"/>
                </a:solidFill>
                <a:latin typeface="Calibri"/>
              </a:defRPr>
            </a:pPr>
            <a:r>
              <a:t>Q4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20040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 i="0">
                <a:solidFill>
                  <a:srgbClr val="1A1A1A"/>
                </a:solidFill>
                <a:latin typeface="Georgia"/>
              </a:defRPr>
            </a:pPr>
            <a:r>
              <a:t>Escala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03320" y="3749039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00"/>
              </a:lnSpc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•  Dashboard de analytics para Partners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4251959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00"/>
              </a:lnSpc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•  Generación multiidioma (38 países)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4754879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00"/>
              </a:lnSpc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•  Integración con Vendor Pages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525780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00"/>
              </a:lnSpc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•  Aprobación de contenido por compliance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80960" y="2286000"/>
            <a:ext cx="1554480" cy="3657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178040" y="2011680"/>
            <a:ext cx="548640" cy="548640"/>
          </a:xfrm>
          <a:prstGeom prst="ellipse">
            <a:avLst/>
          </a:prstGeom>
          <a:solidFill>
            <a:srgbClr val="C47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283464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 i="0">
                <a:solidFill>
                  <a:srgbClr val="C4748E"/>
                </a:solidFill>
                <a:latin typeface="Calibri"/>
              </a:defRPr>
            </a:pPr>
            <a:r>
              <a:t>Q1 2027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20040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 i="0">
                <a:solidFill>
                  <a:srgbClr val="1A1A1A"/>
                </a:solidFill>
                <a:latin typeface="Georgia"/>
              </a:defRPr>
            </a:pPr>
            <a:r>
              <a:t>Enterprise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3749039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00"/>
              </a:lnSpc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•  API para integración con CRM Ringana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251959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00"/>
              </a:lnSpc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•  Panel de control centralizado para HQ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754879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00"/>
              </a:lnSpc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•  A/B testing de contenido por mercado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525780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00"/>
              </a:lnSpc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•  Reportes de engagement por Partner</a:t>
            </a:r>
          </a:p>
        </p:txBody>
      </p:sp>
      <p:sp>
        <p:nvSpPr>
          <p:cNvPr id="32" name="Oval 31"/>
          <p:cNvSpPr/>
          <p:nvPr/>
        </p:nvSpPr>
        <p:spPr>
          <a:xfrm>
            <a:off x="10012680" y="2011680"/>
            <a:ext cx="548640" cy="5486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35440" y="283464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 i="0">
                <a:solidFill>
                  <a:srgbClr val="1E2761"/>
                </a:solidFill>
                <a:latin typeface="Calibri"/>
              </a:defRPr>
            </a:pPr>
            <a:r>
              <a:t>Q2 2027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35440" y="3200400"/>
            <a:ext cx="2560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 i="0">
                <a:solidFill>
                  <a:srgbClr val="1A1A1A"/>
                </a:solidFill>
                <a:latin typeface="Georgia"/>
              </a:defRPr>
            </a:pPr>
            <a:r>
              <a:t>Expansión 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3749039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00"/>
              </a:lnSpc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•  Soporte completo en inglés nativo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72600" y="4251959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00"/>
              </a:lnSpc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•  Adaptación cultural para mercado 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72600" y="4754879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00"/>
              </a:lnSpc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•  Sincronización con apertura en Roanoke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72600" y="5257800"/>
            <a:ext cx="23774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1700"/>
              </a:lnSpc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•  Contenido adaptado a FTC guidelines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" y="0"/>
            <a:ext cx="109728" cy="6858000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457200"/>
            <a:ext cx="4572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 i="0">
                <a:solidFill>
                  <a:srgbClr val="97BC62"/>
                </a:solidFill>
                <a:latin typeface="Calibri"/>
              </a:defRPr>
            </a:pPr>
            <a:r>
              <a:t>PRÓXIMOS PASOS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9144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800" b="1" i="0">
                <a:solidFill>
                  <a:srgbClr val="FFFFFF"/>
                </a:solidFill>
                <a:latin typeface="Georgia"/>
              </a:defRPr>
            </a:pPr>
            <a:r>
              <a:t>¿Cómo avanzamos?</a:t>
            </a:r>
          </a:p>
        </p:txBody>
      </p:sp>
      <p:sp>
        <p:nvSpPr>
          <p:cNvPr id="6" name="Oval 5"/>
          <p:cNvSpPr/>
          <p:nvPr/>
        </p:nvSpPr>
        <p:spPr>
          <a:xfrm>
            <a:off x="1097280" y="2148840"/>
            <a:ext cx="502920" cy="502920"/>
          </a:xfrm>
          <a:prstGeom prst="ellipse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 i="0">
                <a:solidFill>
                  <a:srgbClr val="FFFFFF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0312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Demo en vivo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514600"/>
            <a:ext cx="86868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100"/>
              </a:lnSpc>
              <a:defRPr sz="1400" b="0" i="0">
                <a:solidFill>
                  <a:srgbClr val="AABBCC"/>
                </a:solidFill>
                <a:latin typeface="Calibri"/>
              </a:defRPr>
            </a:pPr>
            <a:r>
              <a:t>Sesión de 30 minutos donde creamos contenido real para Ringana en tiempo real. Verás cómo la IA genera copys con el tono de marca, imágenes de producto y un calendario semanal completo.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3657600"/>
            <a:ext cx="502920" cy="502920"/>
          </a:xfrm>
          <a:prstGeom prst="ellipse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657600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 i="0">
                <a:solidFill>
                  <a:srgbClr val="FFFFFF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61188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Piloto gratuito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023360"/>
            <a:ext cx="86868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100"/>
              </a:lnSpc>
              <a:defRPr sz="1400" b="0" i="0">
                <a:solidFill>
                  <a:srgbClr val="AABBCC"/>
                </a:solidFill>
                <a:latin typeface="Calibri"/>
              </a:defRPr>
            </a:pPr>
            <a:r>
              <a:t>Acceso completo durante 30 días para un grupo de 10-20 Partners seleccionados. Medimos adopción, volumen de contenido generado y satisfacción.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5166360"/>
            <a:ext cx="502920" cy="502920"/>
          </a:xfrm>
          <a:prstGeom prst="ellipse">
            <a:avLst/>
          </a:prstGeom>
          <a:solidFill>
            <a:srgbClr val="C47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166360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200" b="1" i="0">
                <a:solidFill>
                  <a:srgbClr val="FFFFFF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12064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Evaluación y propuesta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532120"/>
            <a:ext cx="868680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2100"/>
              </a:lnSpc>
              <a:defRPr sz="1400" b="0" i="0">
                <a:solidFill>
                  <a:srgbClr val="AABBCC"/>
                </a:solidFill>
                <a:latin typeface="Calibri"/>
              </a:defRPr>
            </a:pPr>
            <a:r>
              <a:t>Analizamos resultados del piloto, definimos el modelo comercial y presentamos una propuesta formal con pricing por volumen adaptado a Ringana.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" y="0"/>
            <a:ext cx="109728" cy="685800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2560320"/>
            <a:ext cx="2743200" cy="36576"/>
          </a:xfrm>
          <a:prstGeom prst="rect">
            <a:avLst/>
          </a:prstGeom>
          <a:solidFill>
            <a:srgbClr val="97BC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1440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ts val="5600"/>
              </a:lnSpc>
              <a:defRPr sz="4200" b="1" i="0">
                <a:solidFill>
                  <a:srgbClr val="FFFFFF"/>
                </a:solidFill>
                <a:latin typeface="Georgia"/>
              </a:defRPr>
            </a:pPr>
            <a:r>
              <a:t>Hagamos que cada Partner</a:t>
            </a:r>
            <a:br/>
            <a:r>
              <a:t>de Ringana brille en redes.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91440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200" b="0" i="1">
                <a:solidFill>
                  <a:srgbClr val="97BC62"/>
                </a:solidFill>
                <a:latin typeface="Calibri"/>
              </a:defRPr>
            </a:pPr>
            <a:r>
              <a:t>Contenido profesional. En segundos. Con 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66928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 i="0">
                <a:solidFill>
                  <a:srgbClr val="FFFFFF"/>
                </a:solidFill>
                <a:latin typeface="Calibri"/>
              </a:defRPr>
            </a:pPr>
            <a:r>
              <a:t>Marta  •  mrt.niet@gmail.com  •  esteticai.com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0" y="5943600"/>
            <a:ext cx="2011680" cy="457200"/>
          </a:xfrm>
          <a:prstGeom prst="round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0" y="5943600"/>
            <a:ext cx="20116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 i="0">
                <a:solidFill>
                  <a:srgbClr val="FFFFFF"/>
                </a:solidFill>
                <a:latin typeface="Calibri"/>
              </a:defRPr>
            </a:pPr>
            <a:r>
              <a:t>ESTETICAI × RINGANA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